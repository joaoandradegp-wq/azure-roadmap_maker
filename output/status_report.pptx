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1208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7864" y="1463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Vendas] – </a:t>
            </a:r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Projetos e Melhorias Funil de Vendas - Livre (1/4)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95560" y="1463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Atualizado em 13/08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5303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Fase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676656"/>
            <a:ext cx="137160" cy="137160"/>
          </a:xfrm>
          <a:prstGeom prst="ellipse">
            <a:avLst/>
          </a:prstGeom>
          <a:solidFill>
            <a:srgbClr val="BFBF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649224"/>
            <a:ext cx="8580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iniciado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43289" y="676656"/>
            <a:ext cx="137160" cy="137160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98737" y="649224"/>
            <a:ext cx="57204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prazo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80514" y="676656"/>
            <a:ext cx="137160" cy="137160"/>
          </a:xfrm>
          <a:prstGeom prst="ellipse">
            <a:avLst/>
          </a:prstGeom>
          <a:solidFill>
            <a:srgbClr val="FFC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5962" y="649224"/>
            <a:ext cx="10725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de atraso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18281" y="676656"/>
            <a:ext cx="137160" cy="137160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3729" y="649224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12493" y="676656"/>
            <a:ext cx="137160" cy="137160"/>
          </a:xfrm>
          <a:prstGeom prst="ellipse">
            <a:avLst/>
          </a:prstGeom>
          <a:solidFill>
            <a:srgbClr val="E9713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67941" y="649224"/>
            <a:ext cx="50054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215372" y="530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Entregas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5215372" y="667512"/>
            <a:ext cx="137160" cy="137160"/>
          </a:xfrm>
          <a:prstGeom prst="triangl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79964" y="649224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18728" y="667512"/>
            <a:ext cx="155448" cy="155448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18728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92464" y="630936"/>
            <a:ext cx="5720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774241" y="667512"/>
            <a:ext cx="155448" cy="155448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4241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947977" y="630936"/>
            <a:ext cx="12871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no prazo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344814" y="667512"/>
            <a:ext cx="155448" cy="155448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44814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18550" y="630936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com atraso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1115568"/>
            <a:ext cx="393192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111556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Entrega/Fase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solidFill>
            <a:srgbClr val="0F2545"/>
          </a:solidFill>
          <a:ln w="6350">
            <a:solidFill>
              <a:srgbClr val="0F25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Junho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Julho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Setembro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Novembro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320040" y="17739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" y="1773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SP03 - CONTA | Botão Manual para Consulta SERASA na Conta (Pessoa Física)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407408" y="1929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4818328" y="1906524"/>
            <a:ext cx="50217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5238206" y="19202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5238206" y="1911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5430230" y="17739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19/05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320040" y="22311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93192" y="2231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CASO | Desenvolver regra de criação de CASO de não renovação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407408" y="2386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5286538" y="2363724"/>
            <a:ext cx="732640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5936882" y="23774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5936882" y="2368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6128906" y="2231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02/06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09/06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320040" y="26883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93192" y="2688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LEAD | Desenvolver Opção de "Renovação" na picklist do LeadSource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4407408" y="2843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286538" y="2820924"/>
            <a:ext cx="13585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340096" y="28346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340096" y="2825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5532120" y="2688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21/05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320040" y="31455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93192" y="3145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OPORTUNIDADE | Ajustar balanceamento de Distribuição de Leads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4407408" y="33009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5286538" y="3278124"/>
            <a:ext cx="373598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5577840" y="32918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5577840" y="3282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5769864" y="3145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28/05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320040" y="36027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93192" y="3602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OPORTUNIDADE | Complemento de Distribuição de Leads – Inserir ID e NOME do Gestor da Oportunidade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4407408" y="37581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86538" y="3735324"/>
            <a:ext cx="101890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306133" y="37490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306133" y="3739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5498157" y="36027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21/05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320040" y="40599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3192" y="4059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OPORTUNIDADE | Desenvolver ajuste na atualização do campo de desconto via Integração​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4407408" y="4215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5286538" y="4192524"/>
            <a:ext cx="732640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5936882" y="42062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5936882" y="4197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6128906" y="40599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02/06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09/06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320040" y="45171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93192" y="4517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SP04 - OPORTUNIDADE | Desenvolver permissão para geração de pedido de compra sem delay de 8 dias​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4407408" y="4672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5286538" y="4649724"/>
            <a:ext cx="732640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936882" y="46634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936882" y="4654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6128906" y="4517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02/06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09/06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320040" y="49743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393192" y="4974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SP05 - OPORTUNIDADE | Desenvolver Batch para aumentar frequência de geração de Pedido de Compra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4407408" y="5129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5728063" y="5106924"/>
            <a:ext cx="764177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6409944" y="51206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409944" y="5111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34" name="Text 132"/>
          <p:cNvSpPr/>
          <p:nvPr/>
        </p:nvSpPr>
        <p:spPr>
          <a:xfrm>
            <a:off x="6601968" y="4974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16/06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23/06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320040" y="54315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93192" y="5431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SP05 - QUOTE | Desenvolver envio de Opcionais no Pedido de Compra para o Locavia - Etapa relacionamento Dispositivo + Opcionais (fase 1)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4407408" y="55869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5728063" y="5564124"/>
            <a:ext cx="400283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046050" y="55778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6046050" y="5568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6238074" y="5431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11/06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320040" y="58887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393192" y="5888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SP06 - FLOW | Notificação e e-mail para distribuição de Leads/Oportunidades</a:t>
            </a:r>
            <a:endParaRPr lang="en-US" sz="900" dirty="0"/>
          </a:p>
        </p:txBody>
      </p:sp>
      <p:sp>
        <p:nvSpPr>
          <p:cNvPr id="144" name="Shape 142"/>
          <p:cNvSpPr/>
          <p:nvPr/>
        </p:nvSpPr>
        <p:spPr>
          <a:xfrm>
            <a:off x="4407408" y="60441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6237514" y="6021324"/>
            <a:ext cx="764177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6919395" y="60350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6919395" y="6025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7111419" y="58887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30/06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8202541" y="1115568"/>
            <a:ext cx="0" cy="5230368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>
            <a:off x="8165965" y="6309360"/>
            <a:ext cx="73152" cy="7315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20040" y="1115568"/>
            <a:ext cx="11521440" cy="5230368"/>
          </a:xfrm>
          <a:prstGeom prst="rect">
            <a:avLst/>
          </a:prstGeom>
          <a:ln w="12700">
            <a:solidFill>
              <a:srgbClr val="1B3B6F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1208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7864" y="1463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Vendas] – </a:t>
            </a:r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Projetos e Melhorias Funil de Vendas - Livre (2/4)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95560" y="1463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Atualizado em 13/08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5303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Fase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676656"/>
            <a:ext cx="137160" cy="137160"/>
          </a:xfrm>
          <a:prstGeom prst="ellipse">
            <a:avLst/>
          </a:prstGeom>
          <a:solidFill>
            <a:srgbClr val="BFBF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649224"/>
            <a:ext cx="8580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iniciado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43289" y="676656"/>
            <a:ext cx="137160" cy="137160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98737" y="649224"/>
            <a:ext cx="57204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prazo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80514" y="676656"/>
            <a:ext cx="137160" cy="137160"/>
          </a:xfrm>
          <a:prstGeom prst="ellipse">
            <a:avLst/>
          </a:prstGeom>
          <a:solidFill>
            <a:srgbClr val="FFC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5962" y="649224"/>
            <a:ext cx="10725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de atraso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18281" y="676656"/>
            <a:ext cx="137160" cy="137160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3729" y="649224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12493" y="676656"/>
            <a:ext cx="137160" cy="137160"/>
          </a:xfrm>
          <a:prstGeom prst="ellipse">
            <a:avLst/>
          </a:prstGeom>
          <a:solidFill>
            <a:srgbClr val="E9713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67941" y="649224"/>
            <a:ext cx="50054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215372" y="530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Entregas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5215372" y="667512"/>
            <a:ext cx="137160" cy="137160"/>
          </a:xfrm>
          <a:prstGeom prst="triangl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79964" y="649224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18728" y="667512"/>
            <a:ext cx="155448" cy="155448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18728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92464" y="630936"/>
            <a:ext cx="5720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774241" y="667512"/>
            <a:ext cx="155448" cy="155448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4241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947977" y="630936"/>
            <a:ext cx="12871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no prazo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344814" y="667512"/>
            <a:ext cx="155448" cy="155448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44814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18550" y="630936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com atraso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1115568"/>
            <a:ext cx="393192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111556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Entrega/Fase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solidFill>
            <a:srgbClr val="0F2545"/>
          </a:solidFill>
          <a:ln w="6350">
            <a:solidFill>
              <a:srgbClr val="0F25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Junho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Julho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Setembro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Novembro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320040" y="17739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" y="1773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SP06 - OPORTUNIDADE | Atualizar motivo “Preço” para “Problemas financeiros” e incluir opção “Não informado”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407408" y="1929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237514" y="1906524"/>
            <a:ext cx="764177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6919395" y="19202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919395" y="1911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7111419" y="17739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30/06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320040" y="22311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93192" y="2231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SP06 - OPORTUNIDADE | Desatrelamento Automático de Vendedor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407408" y="2386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6237514" y="2363724"/>
            <a:ext cx="764177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6919395" y="23774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919395" y="2368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7111419" y="2231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30/06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320040" y="26883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93192" y="2688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SP06 - OPORTUNIDADE | Inclusão do vendedor Iroa Gurgel na distribuição da fila Nexi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4407408" y="2843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6237514" y="2820924"/>
            <a:ext cx="764177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919395" y="28346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919395" y="2825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111419" y="2688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30/06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07/07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320040" y="31455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93192" y="3145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SP06 - QUOTE | Desenvolver envio de Opcionais no Pedido de Compra para o Locavia - Etapa Integração (fase 2)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4407408" y="33009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6237514" y="3278124"/>
            <a:ext cx="800567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6955785" y="32918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955785" y="3282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7147809" y="3145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30/06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09/07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320040" y="36027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93192" y="3602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SP07 - CASO | Ajuste da regra de criação de caso para desmobilização, contabilizando dias úteis e removendo a regra de fechamento automatico da oportunidade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4407408" y="37581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6710576" y="3735324"/>
            <a:ext cx="545841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174121" y="37490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174121" y="3739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7366145" y="36027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14/07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320040" y="40599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3192" y="4059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SP07 - DISTRIBUIÇÃO | Regra de distribuição considerando Score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4407408" y="4215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710576" y="4192524"/>
            <a:ext cx="545841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174121" y="42062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174121" y="4197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7366145" y="40599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14/07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320040" y="45171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93192" y="4517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SP07 - OPORTUNIDADE | Disparar e-mail ao vendedor quando o crédito reprovar uma renovação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4407408" y="4672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6710576" y="4649724"/>
            <a:ext cx="545841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174121" y="46634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7174121" y="4654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7366145" y="4517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14/07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320040" y="49743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393192" y="4974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SP07 - OPORTUNIDADE | Preenchimento automático da Data de Retorno da Análise de Dados em Oportunidades de Renovação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4407408" y="5129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6710576" y="5106924"/>
            <a:ext cx="545841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174121" y="51206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174121" y="5111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34" name="Text 132"/>
          <p:cNvSpPr/>
          <p:nvPr/>
        </p:nvSpPr>
        <p:spPr>
          <a:xfrm>
            <a:off x="7366145" y="4974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14/07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16/07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320040" y="54315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93192" y="5431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SP08 - OPORTUNIDADE | Adicionar campo “Data término do contrato” nas oportunidades de renovação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4407408" y="55869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7183638" y="5564124"/>
            <a:ext cx="691398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7792741" y="55778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792741" y="5568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7984765" y="5431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28/07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04/08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320040" y="58887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393192" y="5888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SP08 - OPORTUNIDADE | Criação do campo "Prazo de entrega informado ao Cliente" na Oportunidade</a:t>
            </a:r>
            <a:endParaRPr lang="en-US" sz="900" dirty="0"/>
          </a:p>
        </p:txBody>
      </p:sp>
      <p:sp>
        <p:nvSpPr>
          <p:cNvPr id="144" name="Shape 142"/>
          <p:cNvSpPr/>
          <p:nvPr/>
        </p:nvSpPr>
        <p:spPr>
          <a:xfrm>
            <a:off x="4407408" y="60441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183638" y="6021324"/>
            <a:ext cx="691398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7792741" y="60350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7792741" y="6025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7984765" y="58887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28/07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04/08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8202541" y="1115568"/>
            <a:ext cx="0" cy="5230368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>
            <a:off x="8165965" y="6309360"/>
            <a:ext cx="73152" cy="7315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20040" y="1115568"/>
            <a:ext cx="11521440" cy="5230368"/>
          </a:xfrm>
          <a:prstGeom prst="rect">
            <a:avLst/>
          </a:prstGeom>
          <a:ln w="12700">
            <a:solidFill>
              <a:srgbClr val="1B3B6F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1208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7864" y="1463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Vendas] – </a:t>
            </a:r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Projetos e Melhorias Funil de Vendas - Livre (3/4)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95560" y="1463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Atualizado em 13/08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5303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Fase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676656"/>
            <a:ext cx="137160" cy="137160"/>
          </a:xfrm>
          <a:prstGeom prst="ellipse">
            <a:avLst/>
          </a:prstGeom>
          <a:solidFill>
            <a:srgbClr val="BFBF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649224"/>
            <a:ext cx="8580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iniciado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43289" y="676656"/>
            <a:ext cx="137160" cy="137160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98737" y="649224"/>
            <a:ext cx="57204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prazo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80514" y="676656"/>
            <a:ext cx="137160" cy="137160"/>
          </a:xfrm>
          <a:prstGeom prst="ellipse">
            <a:avLst/>
          </a:prstGeom>
          <a:solidFill>
            <a:srgbClr val="FFC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5962" y="649224"/>
            <a:ext cx="10725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de atraso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18281" y="676656"/>
            <a:ext cx="137160" cy="137160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3729" y="649224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12493" y="676656"/>
            <a:ext cx="137160" cy="137160"/>
          </a:xfrm>
          <a:prstGeom prst="ellipse">
            <a:avLst/>
          </a:prstGeom>
          <a:solidFill>
            <a:srgbClr val="E9713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67941" y="649224"/>
            <a:ext cx="50054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215372" y="530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Entregas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5215372" y="667512"/>
            <a:ext cx="137160" cy="137160"/>
          </a:xfrm>
          <a:prstGeom prst="triangl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79964" y="649224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18728" y="667512"/>
            <a:ext cx="155448" cy="155448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18728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92464" y="630936"/>
            <a:ext cx="5720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774241" y="667512"/>
            <a:ext cx="155448" cy="155448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4241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947977" y="630936"/>
            <a:ext cx="12871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no prazo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344814" y="667512"/>
            <a:ext cx="155448" cy="155448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44814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18550" y="630936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com atraso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1115568"/>
            <a:ext cx="393192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111556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Entrega/Fase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solidFill>
            <a:srgbClr val="0F2545"/>
          </a:solidFill>
          <a:ln w="6350">
            <a:solidFill>
              <a:srgbClr val="0F25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Junho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Julho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Setembro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Novembro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320040" y="17739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" y="1773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SP08 - OPORTUNIDADE | Criar campo para rastrear a data da última alteração da subfase da oportunidade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407408" y="1929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7183638" y="1906524"/>
            <a:ext cx="691398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792741" y="1920240"/>
            <a:ext cx="164592" cy="164592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7792741" y="1911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7984765" y="17739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strike="sngStrike" dirty="0">
                <a:solidFill>
                  <a:srgbClr val="9E9E9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28/07  </a:t>
            </a:r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04/08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320040" y="22311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93192" y="2231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[Proativo] Identificar processo de utilização do botão de gerar pedido de compra | Geração do relatório de Historico de desatrelar vendedor</a:t>
            </a:r>
            <a:endParaRPr lang="en-US" sz="900" dirty="0"/>
          </a:p>
        </p:txBody>
      </p:sp>
      <p:sp>
        <p:nvSpPr>
          <p:cNvPr id="88" name="Shape 86"/>
          <p:cNvSpPr/>
          <p:nvPr/>
        </p:nvSpPr>
        <p:spPr>
          <a:xfrm>
            <a:off x="4407408" y="2386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630015" y="2363724"/>
            <a:ext cx="354190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7901909" y="23774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901909" y="2368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2" name="Text 90"/>
          <p:cNvSpPr/>
          <p:nvPr/>
        </p:nvSpPr>
        <p:spPr>
          <a:xfrm>
            <a:off x="8093933" y="2231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13/08</a:t>
            </a:r>
            <a:endParaRPr lang="en-US" sz="750" dirty="0"/>
          </a:p>
        </p:txBody>
      </p:sp>
      <p:sp>
        <p:nvSpPr>
          <p:cNvPr id="93" name="Shape 91"/>
          <p:cNvSpPr/>
          <p:nvPr/>
        </p:nvSpPr>
        <p:spPr>
          <a:xfrm>
            <a:off x="320040" y="26883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93192" y="2688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[REQ - C2607-8248] - Identificar origem dos campos captura de reserva, reserva primeira parcela e assinatura de contrato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4407408" y="2843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7630015" y="2820924"/>
            <a:ext cx="245022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7792741" y="28346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792741" y="2825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99" name="Text 97"/>
          <p:cNvSpPr/>
          <p:nvPr/>
        </p:nvSpPr>
        <p:spPr>
          <a:xfrm>
            <a:off x="7984765" y="2688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04/08</a:t>
            </a:r>
            <a:endParaRPr lang="en-US" sz="750" dirty="0"/>
          </a:p>
        </p:txBody>
      </p:sp>
      <p:sp>
        <p:nvSpPr>
          <p:cNvPr id="100" name="Shape 98"/>
          <p:cNvSpPr/>
          <p:nvPr/>
        </p:nvSpPr>
        <p:spPr>
          <a:xfrm>
            <a:off x="320040" y="31455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93192" y="3145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LEAD | Encaminhar automaticamente para LOST Leads com Score inferior a 300</a:t>
            </a:r>
            <a:endParaRPr lang="en-US" sz="900" dirty="0"/>
          </a:p>
        </p:txBody>
      </p:sp>
      <p:sp>
        <p:nvSpPr>
          <p:cNvPr id="102" name="Shape 100"/>
          <p:cNvSpPr/>
          <p:nvPr/>
        </p:nvSpPr>
        <p:spPr>
          <a:xfrm>
            <a:off x="4407408" y="33009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630015" y="3278124"/>
            <a:ext cx="536137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8083856" y="32918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083856" y="3282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06" name="Text 104"/>
          <p:cNvSpPr/>
          <p:nvPr/>
        </p:nvSpPr>
        <p:spPr>
          <a:xfrm>
            <a:off x="8275880" y="3145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11/08</a:t>
            </a:r>
            <a:endParaRPr lang="en-US" sz="750" dirty="0"/>
          </a:p>
        </p:txBody>
      </p:sp>
      <p:sp>
        <p:nvSpPr>
          <p:cNvPr id="107" name="Shape 105"/>
          <p:cNvSpPr/>
          <p:nvPr/>
        </p:nvSpPr>
        <p:spPr>
          <a:xfrm>
            <a:off x="320040" y="36027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393192" y="3602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OPORTUNIDADE | Cadastro de Loja de Retirada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4407408" y="3758184"/>
            <a:ext cx="146304" cy="146304"/>
          </a:xfrm>
          <a:prstGeom prst="ellipse">
            <a:avLst/>
          </a:prstGeom>
          <a:solidFill>
            <a:srgbClr val="BFBF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7630015" y="3735324"/>
            <a:ext cx="354190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7901909" y="37490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7901909" y="3739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13" name="Text 111"/>
          <p:cNvSpPr/>
          <p:nvPr/>
        </p:nvSpPr>
        <p:spPr>
          <a:xfrm>
            <a:off x="8093933" y="36027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13/08</a:t>
            </a:r>
            <a:endParaRPr lang="en-US" sz="750" dirty="0"/>
          </a:p>
        </p:txBody>
      </p:sp>
      <p:sp>
        <p:nvSpPr>
          <p:cNvPr id="114" name="Shape 112"/>
          <p:cNvSpPr/>
          <p:nvPr/>
        </p:nvSpPr>
        <p:spPr>
          <a:xfrm>
            <a:off x="320040" y="40599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93192" y="4059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OPORTUNIDADE | Desenvolver novas regras de Desatrelamento</a:t>
            </a:r>
            <a:endParaRPr lang="en-US" sz="900" dirty="0"/>
          </a:p>
        </p:txBody>
      </p:sp>
      <p:sp>
        <p:nvSpPr>
          <p:cNvPr id="116" name="Shape 114"/>
          <p:cNvSpPr/>
          <p:nvPr/>
        </p:nvSpPr>
        <p:spPr>
          <a:xfrm>
            <a:off x="4407408" y="4215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7630015" y="4192524"/>
            <a:ext cx="245022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7792741" y="42062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7792741" y="4197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7984765" y="40599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04/08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320040" y="45171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393192" y="45171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OPORTUNIDADE | Desenvolver novas regras de Distribuição de oportunidades</a:t>
            </a:r>
            <a:endParaRPr lang="en-US" sz="900" dirty="0"/>
          </a:p>
        </p:txBody>
      </p:sp>
      <p:sp>
        <p:nvSpPr>
          <p:cNvPr id="123" name="Shape 121"/>
          <p:cNvSpPr/>
          <p:nvPr/>
        </p:nvSpPr>
        <p:spPr>
          <a:xfrm>
            <a:off x="4407408" y="46725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630015" y="4649724"/>
            <a:ext cx="536137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8083856" y="4663440"/>
            <a:ext cx="164592" cy="164592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8083856" y="46542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8275880" y="45171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11/08</a:t>
            </a:r>
            <a:endParaRPr lang="en-US" sz="750" dirty="0"/>
          </a:p>
        </p:txBody>
      </p:sp>
      <p:sp>
        <p:nvSpPr>
          <p:cNvPr id="128" name="Shape 126"/>
          <p:cNvSpPr/>
          <p:nvPr/>
        </p:nvSpPr>
        <p:spPr>
          <a:xfrm>
            <a:off x="320040" y="49743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393192" y="49743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SP09 - OPORTUNIDADE | Enviar novas informações da proposta de Renovação para a Plataforma de Crédito</a:t>
            </a:r>
            <a:endParaRPr lang="en-US" sz="900" dirty="0"/>
          </a:p>
        </p:txBody>
      </p:sp>
      <p:sp>
        <p:nvSpPr>
          <p:cNvPr id="130" name="Shape 128"/>
          <p:cNvSpPr/>
          <p:nvPr/>
        </p:nvSpPr>
        <p:spPr>
          <a:xfrm>
            <a:off x="4407408" y="51297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7630015" y="5106924"/>
            <a:ext cx="354190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7901909" y="51206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901909" y="51114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34" name="Text 132"/>
          <p:cNvSpPr/>
          <p:nvPr/>
        </p:nvSpPr>
        <p:spPr>
          <a:xfrm>
            <a:off x="8093933" y="49743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13/08</a:t>
            </a:r>
            <a:endParaRPr lang="en-US" sz="750" dirty="0"/>
          </a:p>
        </p:txBody>
      </p:sp>
      <p:sp>
        <p:nvSpPr>
          <p:cNvPr id="135" name="Shape 133"/>
          <p:cNvSpPr/>
          <p:nvPr/>
        </p:nvSpPr>
        <p:spPr>
          <a:xfrm>
            <a:off x="320040" y="54315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393192" y="54315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SP10 - [Proativo] OPORTUNIDADE | Atualização de Cadastro Existente no Locavia Antes da Geração do Contrato</a:t>
            </a:r>
            <a:endParaRPr lang="en-US" sz="900" dirty="0"/>
          </a:p>
        </p:txBody>
      </p:sp>
      <p:sp>
        <p:nvSpPr>
          <p:cNvPr id="137" name="Shape 135"/>
          <p:cNvSpPr/>
          <p:nvPr/>
        </p:nvSpPr>
        <p:spPr>
          <a:xfrm>
            <a:off x="4407408" y="5586984"/>
            <a:ext cx="146304" cy="146304"/>
          </a:xfrm>
          <a:prstGeom prst="ellipse">
            <a:avLst/>
          </a:prstGeom>
          <a:solidFill>
            <a:srgbClr val="BFBF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8093373" y="5564124"/>
            <a:ext cx="35176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8362841" y="55778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362841" y="55686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41" name="Text 139"/>
          <p:cNvSpPr/>
          <p:nvPr/>
        </p:nvSpPr>
        <p:spPr>
          <a:xfrm>
            <a:off x="8554865" y="54315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25/08</a:t>
            </a:r>
            <a:endParaRPr lang="en-US" sz="750" dirty="0"/>
          </a:p>
        </p:txBody>
      </p:sp>
      <p:sp>
        <p:nvSpPr>
          <p:cNvPr id="142" name="Shape 140"/>
          <p:cNvSpPr/>
          <p:nvPr/>
        </p:nvSpPr>
        <p:spPr>
          <a:xfrm>
            <a:off x="320040" y="5888736"/>
            <a:ext cx="11521440" cy="457200"/>
          </a:xfrm>
          <a:prstGeom prst="rect">
            <a:avLst/>
          </a:prstGeom>
          <a:solidFill>
            <a:srgbClr val="F5F7FA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393192" y="58887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SP10 - [REFORMA] OPORTUNIDADE - Exposição de Campos Financeiros na Oportunidade Livre e Integração com Site, BRIM e LocaviaWeb</a:t>
            </a:r>
            <a:endParaRPr lang="en-US" sz="900" dirty="0"/>
          </a:p>
        </p:txBody>
      </p:sp>
      <p:sp>
        <p:nvSpPr>
          <p:cNvPr id="144" name="Shape 142"/>
          <p:cNvSpPr/>
          <p:nvPr/>
        </p:nvSpPr>
        <p:spPr>
          <a:xfrm>
            <a:off x="4407408" y="60441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8093373" y="6021324"/>
            <a:ext cx="35176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8362841" y="60350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8362841" y="60258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8554865" y="58887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25/08</a:t>
            </a:r>
            <a:endParaRPr lang="en-US" sz="750" dirty="0"/>
          </a:p>
        </p:txBody>
      </p:sp>
      <p:sp>
        <p:nvSpPr>
          <p:cNvPr id="149" name="Shape 147"/>
          <p:cNvSpPr/>
          <p:nvPr/>
        </p:nvSpPr>
        <p:spPr>
          <a:xfrm>
            <a:off x="8202541" y="1115568"/>
            <a:ext cx="0" cy="5230368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</a:ln>
        </p:spPr>
      </p:sp>
      <p:sp>
        <p:nvSpPr>
          <p:cNvPr id="150" name="Shape 148"/>
          <p:cNvSpPr/>
          <p:nvPr/>
        </p:nvSpPr>
        <p:spPr>
          <a:xfrm>
            <a:off x="8165965" y="6309360"/>
            <a:ext cx="73152" cy="7315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320040" y="1115568"/>
            <a:ext cx="11521440" cy="5230368"/>
          </a:xfrm>
          <a:prstGeom prst="rect">
            <a:avLst/>
          </a:prstGeom>
          <a:ln w="12700">
            <a:solidFill>
              <a:srgbClr val="1B3B6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21208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22376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23544" y="256032"/>
            <a:ext cx="146304" cy="146304"/>
          </a:xfrm>
          <a:prstGeom prst="ellipse">
            <a:avLst/>
          </a:prstGeom>
          <a:solidFill>
            <a:srgbClr val="FFFFFF"/>
          </a:solidFill>
          <a:ln w="15875">
            <a:solidFill>
              <a:srgbClr val="1B3B6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97864" y="146304"/>
            <a:ext cx="8595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[Squad Vendas] – </a:t>
            </a:r>
            <a:pPr indent="0" marL="0">
              <a:buNone/>
            </a:pPr>
            <a:r>
              <a:rPr lang="en-US" sz="15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de Projetos e Melhorias Funil de Vendas - Livre (4/4)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0195560" y="146304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1616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Atualizado em 13/08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320040" y="530352"/>
            <a:ext cx="1188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Fase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0040" y="676656"/>
            <a:ext cx="137160" cy="137160"/>
          </a:xfrm>
          <a:prstGeom prst="ellipse">
            <a:avLst/>
          </a:prstGeom>
          <a:solidFill>
            <a:srgbClr val="BFBFB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649224"/>
            <a:ext cx="85807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iniciado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443289" y="676656"/>
            <a:ext cx="137160" cy="137160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598737" y="649224"/>
            <a:ext cx="57204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prazo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280514" y="676656"/>
            <a:ext cx="137160" cy="137160"/>
          </a:xfrm>
          <a:prstGeom prst="ellipse">
            <a:avLst/>
          </a:prstGeom>
          <a:solidFill>
            <a:srgbClr val="FFC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435962" y="649224"/>
            <a:ext cx="107259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de atraso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3618281" y="676656"/>
            <a:ext cx="137160" cy="137160"/>
          </a:xfrm>
          <a:prstGeom prst="ellipse">
            <a:avLst/>
          </a:prstGeom>
          <a:solidFill>
            <a:srgbClr val="C00000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773729" y="649224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Atraso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4312493" y="676656"/>
            <a:ext cx="137160" cy="137160"/>
          </a:xfrm>
          <a:prstGeom prst="ellipse">
            <a:avLst/>
          </a:prstGeom>
          <a:solidFill>
            <a:srgbClr val="E97132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467941" y="649224"/>
            <a:ext cx="50054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Pausado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5215372" y="530352"/>
            <a:ext cx="1417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– Entregas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 rot="5400000">
            <a:off x="5215372" y="667512"/>
            <a:ext cx="137160" cy="137160"/>
          </a:xfrm>
          <a:prstGeom prst="triangle">
            <a:avLst/>
          </a:prstGeom>
          <a:solidFill>
            <a:srgbClr val="1B3B6F"/>
          </a:solidFill>
          <a:ln w="12700">
            <a:solidFill>
              <a:srgbClr val="1B3B6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379964" y="649224"/>
            <a:ext cx="42903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918728" y="667512"/>
            <a:ext cx="155448" cy="155448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918728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6092464" y="630936"/>
            <a:ext cx="57204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Previsão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6774241" y="667512"/>
            <a:ext cx="155448" cy="155448"/>
          </a:xfrm>
          <a:prstGeom prst="ellipse">
            <a:avLst/>
          </a:prstGeom>
          <a:solidFill>
            <a:srgbClr val="4CAF50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774241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6947977" y="630936"/>
            <a:ext cx="12871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no prazo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8344814" y="667512"/>
            <a:ext cx="155448" cy="155448"/>
          </a:xfrm>
          <a:prstGeom prst="ellipse">
            <a:avLst/>
          </a:prstGeom>
          <a:solidFill>
            <a:srgbClr val="E67E22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344814" y="653796"/>
            <a:ext cx="155448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8518550" y="630936"/>
            <a:ext cx="14301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 com atraso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320040" y="1115568"/>
            <a:ext cx="393192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11480" y="1115568"/>
            <a:ext cx="37490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Entrega/Fase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solidFill>
            <a:srgbClr val="1B3B6F"/>
          </a:solidFill>
          <a:ln w="6350">
            <a:solidFill>
              <a:srgbClr val="1B3B6F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251960" y="1115568"/>
            <a:ext cx="457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solidFill>
            <a:srgbClr val="0F2545"/>
          </a:solidFill>
          <a:ln w="6350">
            <a:solidFill>
              <a:srgbClr val="0F254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09160" y="1115568"/>
            <a:ext cx="7132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2026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09160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Maio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728063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Junho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746966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Julho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765869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Agosto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8784771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Setembro</a:t>
            </a:r>
            <a:endParaRPr lang="en-US" sz="1000" dirty="0"/>
          </a:p>
        </p:txBody>
      </p:sp>
      <p:sp>
        <p:nvSpPr>
          <p:cNvPr id="47" name="Shape 45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9803674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Outubro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solidFill>
            <a:srgbClr val="1B3B6F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822577" y="1335024"/>
            <a:ext cx="101890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Novembro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70916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3" name="Shape 51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21861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55" name="Shape 53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72806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57" name="Shape 55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23751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59" name="Shape 57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74696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1" name="Shape 59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25641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3" name="Shape 61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776586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5" name="Shape 63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275320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67" name="Shape 65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84771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69" name="Shape 67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294223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1" name="Shape 69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803674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3" name="Shape 71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313126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16-31</a:t>
            </a:r>
            <a:endParaRPr lang="en-US" sz="700" dirty="0"/>
          </a:p>
        </p:txBody>
      </p:sp>
      <p:sp>
        <p:nvSpPr>
          <p:cNvPr id="75" name="Shape 73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0822577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1-15</a:t>
            </a:r>
            <a:endParaRPr lang="en-US" sz="700" dirty="0"/>
          </a:p>
        </p:txBody>
      </p:sp>
      <p:sp>
        <p:nvSpPr>
          <p:cNvPr id="77" name="Shape 75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solidFill>
            <a:srgbClr val="1B3B6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1332029" y="1572768"/>
            <a:ext cx="509451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E0E0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16-30</a:t>
            </a:r>
            <a:endParaRPr lang="en-US" sz="700" dirty="0"/>
          </a:p>
        </p:txBody>
      </p:sp>
      <p:sp>
        <p:nvSpPr>
          <p:cNvPr id="79" name="Shape 77"/>
          <p:cNvSpPr/>
          <p:nvPr/>
        </p:nvSpPr>
        <p:spPr>
          <a:xfrm>
            <a:off x="320040" y="1773936"/>
            <a:ext cx="11521440" cy="457200"/>
          </a:xfrm>
          <a:prstGeom prst="rect">
            <a:avLst/>
          </a:prstGeom>
          <a:solidFill>
            <a:srgbClr val="FFFFFF"/>
          </a:solidFill>
          <a:ln w="6350">
            <a:solidFill>
              <a:srgbClr val="D9D9D9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93192" y="1773936"/>
            <a:ext cx="378561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00" b="1" dirty="0">
                <a:solidFill>
                  <a:srgbClr val="1B3B6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SP10 - CONTRATO / OPORTUNIDADE | Desenvolver alteração no método de Data e Hora da Assinatura de Contrato</a:t>
            </a:r>
            <a:endParaRPr lang="en-US" sz="900" dirty="0"/>
          </a:p>
        </p:txBody>
      </p:sp>
      <p:sp>
        <p:nvSpPr>
          <p:cNvPr id="81" name="Shape 79"/>
          <p:cNvSpPr/>
          <p:nvPr/>
        </p:nvSpPr>
        <p:spPr>
          <a:xfrm>
            <a:off x="4407408" y="1929384"/>
            <a:ext cx="146304" cy="146304"/>
          </a:xfrm>
          <a:prstGeom prst="ellipse">
            <a:avLst/>
          </a:prstGeom>
          <a:solidFill>
            <a:srgbClr val="70AD47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8093373" y="1906524"/>
            <a:ext cx="351764" cy="192024"/>
          </a:xfrm>
          <a:prstGeom prst="rect">
            <a:avLst/>
          </a:prstGeom>
          <a:solidFill>
            <a:srgbClr val="BFBFBF"/>
          </a:solidFill>
          <a:ln w="12700">
            <a:solidFill>
              <a:srgbClr val="BFBFBF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8362841" y="1920240"/>
            <a:ext cx="164592" cy="164592"/>
          </a:xfrm>
          <a:prstGeom prst="ellipse">
            <a:avLst/>
          </a:prstGeom>
          <a:solidFill>
            <a:srgbClr val="9E9E9E"/>
          </a:solidFill>
          <a:ln w="9525">
            <a:solidFill>
              <a:srgbClr val="FFFFFF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362841" y="1911096"/>
            <a:ext cx="16459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800" dirty="0"/>
          </a:p>
        </p:txBody>
      </p:sp>
      <p:sp>
        <p:nvSpPr>
          <p:cNvPr id="85" name="Text 83"/>
          <p:cNvSpPr/>
          <p:nvPr/>
        </p:nvSpPr>
        <p:spPr>
          <a:xfrm>
            <a:off x="8554865" y="1773936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25/08</a:t>
            </a:r>
            <a:endParaRPr lang="en-US" sz="750" dirty="0"/>
          </a:p>
        </p:txBody>
      </p:sp>
      <p:sp>
        <p:nvSpPr>
          <p:cNvPr id="86" name="Shape 84"/>
          <p:cNvSpPr/>
          <p:nvPr/>
        </p:nvSpPr>
        <p:spPr>
          <a:xfrm>
            <a:off x="8202541" y="1115568"/>
            <a:ext cx="0" cy="1115568"/>
          </a:xfrm>
          <a:prstGeom prst="line">
            <a:avLst/>
          </a:prstGeom>
          <a:noFill/>
          <a:ln w="19050">
            <a:solidFill>
              <a:srgbClr val="E53935"/>
            </a:solidFill>
            <a:prstDash val="dash"/>
          </a:ln>
        </p:spPr>
      </p:sp>
      <p:sp>
        <p:nvSpPr>
          <p:cNvPr id="87" name="Shape 85"/>
          <p:cNvSpPr/>
          <p:nvPr/>
        </p:nvSpPr>
        <p:spPr>
          <a:xfrm>
            <a:off x="8165965" y="2194560"/>
            <a:ext cx="73152" cy="73152"/>
          </a:xfrm>
          <a:prstGeom prst="ellipse">
            <a:avLst/>
          </a:prstGeom>
          <a:solidFill>
            <a:srgbClr val="E53935"/>
          </a:solidFill>
          <a:ln w="12700">
            <a:solidFill>
              <a:srgbClr val="E53935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320040" y="1115568"/>
            <a:ext cx="11521440" cy="1115568"/>
          </a:xfrm>
          <a:prstGeom prst="rect">
            <a:avLst/>
          </a:prstGeom>
          <a:ln w="12700">
            <a:solidFill>
              <a:srgbClr val="1B3B6F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2026-08-13T11:59:11Z</dcterms:created>
  <dcterms:modified xsi:type="dcterms:W3CDTF">2026-08-13T11:59:11Z</dcterms:modified>
</cp:coreProperties>
</file>